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cap="all" spc="100">
                <a:solidFill>
                  <a:srgbClr val="595959"/>
                </a:solidFill>
              </a:rPr>
              <a:t>executive status</a:t>
            </a:r>
          </a:p>
        </p:txBody>
      </p:sp>
      <p:sp>
        <p:nvSpPr>
          <p:cNvPr id="3" name="Heading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864"/>
                </a:solidFill>
              </a:rPr>
              <a:t>Pilot summary</a:t>
            </a:r>
          </a:p>
        </p:txBody>
      </p:sp>
      <p:sp>
        <p:nvSpPr>
          <p:cNvPr id="4" name="Small"/>
          <p:cNvSpPr txBox="1"/>
          <p:nvPr/>
        </p:nvSpPr>
        <p:spPr>
          <a:xfrm>
            <a:off x="457200" y="13716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Indicative European role-rate summary for the pilot phase, with the cost of each role and the weeks it takes.</a:t>
            </a:r>
          </a:p>
          <a:p>
            <a:r>
              <a:rPr sz="900" b="1"/>
              <a:t>Bold nine-point text beside the bars</a:t>
            </a:r>
          </a:p>
        </p:txBody>
      </p:sp>
      <p:sp>
        <p:nvSpPr>
          <p:cNvPr id="5" name="Mid"/>
          <p:cNvSpPr txBox="1"/>
          <p:nvPr/>
        </p:nvSpPr>
        <p:spPr>
          <a:xfrm>
            <a:off x="457200" y="2743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Controlled pilot recommended for the first quarter</a:t>
            </a:r>
          </a:p>
        </p:txBody>
      </p:sp>
      <p:sp>
        <p:nvSpPr>
          <p:cNvPr id="6" name="Bar 1"/>
          <p:cNvSpPr/>
          <p:nvPr/>
        </p:nvSpPr>
        <p:spPr>
          <a:xfrm>
            <a:off x="6400800" y="1463040"/>
            <a:ext cx="1371600" cy="320040"/>
          </a:xfrm>
          <a:prstGeom prst="rect">
            <a:avLst/>
          </a:prstGeom>
          <a:solidFill>
            <a:srgbClr val="2F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r label 1"/>
          <p:cNvSpPr txBox="1"/>
          <p:nvPr/>
        </p:nvSpPr>
        <p:spPr>
          <a:xfrm>
            <a:off x="786384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Discovery 2 weeks</a:t>
            </a:r>
          </a:p>
        </p:txBody>
      </p:sp>
      <p:sp>
        <p:nvSpPr>
          <p:cNvPr id="8" name="Bar 2"/>
          <p:cNvSpPr/>
          <p:nvPr/>
        </p:nvSpPr>
        <p:spPr>
          <a:xfrm>
            <a:off x="6400800" y="2011680"/>
            <a:ext cx="3840480" cy="320040"/>
          </a:xfrm>
          <a:prstGeom prst="rect">
            <a:avLst/>
          </a:prstGeom>
          <a:solidFill>
            <a:srgbClr val="2F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r label 2"/>
          <p:cNvSpPr txBox="1"/>
          <p:nvPr/>
        </p:nvSpPr>
        <p:spPr>
          <a:xfrm>
            <a:off x="10332719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Build 6 weeks</a:t>
            </a:r>
          </a:p>
        </p:txBody>
      </p:sp>
      <p:sp>
        <p:nvSpPr>
          <p:cNvPr id="10" name="Bar 3"/>
          <p:cNvSpPr/>
          <p:nvPr/>
        </p:nvSpPr>
        <p:spPr>
          <a:xfrm>
            <a:off x="6400800" y="2560320"/>
            <a:ext cx="2194560" cy="320040"/>
          </a:xfrm>
          <a:prstGeom prst="rect">
            <a:avLst/>
          </a:prstGeom>
          <a:solidFill>
            <a:srgbClr val="2F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r label 3"/>
          <p:cNvSpPr txBox="1"/>
          <p:nvPr/>
        </p:nvSpPr>
        <p:spPr>
          <a:xfrm>
            <a:off x="868680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Test 3 weeks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595959"/>
                </a:solidFill>
              </a:rPr>
              <a:t>Confidential. Made for OpenPresentation's tests, 25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Arrows and marks</a:t>
            </a:r>
          </a:p>
        </p:txBody>
      </p:sp>
      <p:sp>
        <p:nvSpPr>
          <p:cNvPr id="3" name="Arrows"/>
          <p:cNvSpPr txBox="1"/>
          <p:nvPr/>
        </p:nvSpPr>
        <p:spPr>
          <a:xfrm>
            <a:off x="457200" y="1463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discovery → architecture → build → test → release</a:t>
            </a:r>
          </a:p>
        </p:txBody>
      </p:sp>
      <p:sp>
        <p:nvSpPr>
          <p:cNvPr id="4" name="Marks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← back  ↑ up  ↓ down  ⇒ so  ✓ done  ✗ not  … more  – en  — em  • dot  €5  ™  ≤ 3  ≥ 4  ≠ 5  ≈ 6</a:t>
            </a:r>
          </a:p>
        </p:txBody>
      </p:sp>
      <p:sp>
        <p:nvSpPr>
          <p:cNvPr id="5" name="Small caps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cap="small"/>
              <a:t>Small Capitals Heading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Shrunk to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sz="2400"/>
              <a:t>Point one of ten, long enough to wrap onto a second line in the box</a:t>
            </a:r>
          </a:p>
          <a:p>
            <a:r>
              <a:rPr sz="2400"/>
              <a:t>Point 2 of ten</a:t>
            </a:r>
          </a:p>
          <a:p>
            <a:r>
              <a:rPr sz="2400"/>
              <a:t>Point 3 of ten</a:t>
            </a:r>
          </a:p>
          <a:p>
            <a:r>
              <a:rPr sz="2400"/>
              <a:t>Point 4 of ten</a:t>
            </a:r>
          </a:p>
          <a:p>
            <a:r>
              <a:rPr sz="2400"/>
              <a:t>Point 5 of ten</a:t>
            </a:r>
          </a:p>
          <a:p>
            <a:r>
              <a:rPr sz="2400"/>
              <a:t>Point 6 of ten</a:t>
            </a:r>
          </a:p>
          <a:p>
            <a:r>
              <a:rPr sz="2400"/>
              <a:t>Point 7 of ten</a:t>
            </a:r>
          </a:p>
          <a:p>
            <a:r>
              <a:rPr sz="2400"/>
              <a:t>Point 8 of ten</a:t>
            </a:r>
          </a:p>
          <a:p>
            <a:r>
              <a:rPr sz="2400"/>
              <a:t>Point 9 of ten</a:t>
            </a:r>
          </a:p>
          <a:p>
            <a:r>
              <a:rPr sz="2400"/>
              <a:t>Point 10 of ten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OpenPresentation text fixture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